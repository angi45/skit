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D4454E-842D-4C32-B7C6-1FA4EE1530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56DB1E-A130-4162-90F9-F4D8A97236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3F197F-981F-4EA6-80AF-5BDF7FBCCE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7F16DD-BB0D-4AB0-9F6E-98E0E8B0AC1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99C744-7340-41AF-B933-F47D359954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605960" y="964800"/>
            <a:ext cx="5937480" cy="550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CB178A-85E0-4550-B72B-A02CF1E491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1605960" y="425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F03779-5B4E-4B4C-B066-2D9CFC570AA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48320" y="425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A637F6-2A58-408D-8006-38863010B9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1605960" y="4258080"/>
            <a:ext cx="59374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BB4662-686B-436C-AD51-19430D4A04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59374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1605960" y="4258080"/>
            <a:ext cx="59374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F0F9F5-C87B-4018-8935-E509611FEB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1605960" y="425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48320" y="425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2BF28F-AD75-4D1D-B996-EC849455218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613680" y="263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5621040" y="263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1605960" y="425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613680" y="425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5621040" y="425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BA3135-B7D0-4FB5-8E40-DC055F1EF44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04F0DC-0460-4E50-8364-7FC54C237B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67C889-D5E8-4D96-A808-D1B1B9BCE8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E154E4-00BF-45FC-81E4-84B255A3D06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B29D27-7CEF-4C5D-B491-75EE244E74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FA039F-0A0E-49F7-8B80-DA5BFCD6E1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1605960" y="964800"/>
            <a:ext cx="5937480" cy="550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B74648-0492-4C1F-BAF2-23D614884E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1605960" y="425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0DC14D-B851-46FD-8BFE-0C9577B6E8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48320" y="425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56682A-F854-4E22-A0C3-4D2DD41DAE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1605960" y="4258080"/>
            <a:ext cx="59374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9C3BA3E-D81E-4979-85B5-6929C10DA5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59374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1605960" y="4258080"/>
            <a:ext cx="59374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0CF08A-AB21-4C01-9DE2-22FC1DE2D6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1605960" y="425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48320" y="425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B203E9-9C3C-4C73-9A16-47C0D914CCE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613680" y="263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621040" y="263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1605960" y="425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613680" y="425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5621040" y="425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867130-782B-4C76-8EAC-5AA82BE2DE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3D805AC-B000-4FAE-9DC3-F3AA05E06A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31534E0-AE08-47BF-864F-22033D04BF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0AD6835-2E55-4589-B324-ADABC7A6DB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42CED17-F78D-4098-963F-532FF86566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C7B85D3-5251-4B26-89CF-0B139DC4A9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1605960" y="964800"/>
            <a:ext cx="5937480" cy="550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FA2FB9A-B893-4C37-8826-15E358C0EB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1605960" y="425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4F4ED53-01CD-44F1-8C85-348061C3E4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31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4648320" y="425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0AD6AC2-86BB-49F9-BE59-142C2C5556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1605960" y="4258080"/>
            <a:ext cx="59374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E9C3255-5757-4D8D-9F88-03EDD9ABBB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59374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1605960" y="4258080"/>
            <a:ext cx="59374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BAB1FE9-5D0D-4ED7-849B-4788DEDF0D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48320" y="263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1605960" y="425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4648320" y="4258080"/>
            <a:ext cx="289728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F2E0BE5-5F59-4EE0-BEDC-021B38A3E7F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3613680" y="263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5621040" y="263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1605960" y="425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3613680" y="425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5621040" y="4258080"/>
            <a:ext cx="1911600" cy="147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28E41A1-4FA0-44EB-B07B-D5766E50011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baf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02320" y="2386800"/>
            <a:ext cx="693900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rIns="274320" tIns="182880" bIns="182880" anchor="ctr" anchorCtr="1">
            <a:normAutofit/>
          </a:bodyPr>
          <a:p>
            <a:pPr algn="ctr">
              <a:lnSpc>
                <a:spcPct val="90000"/>
              </a:lnSpc>
              <a:buNone/>
            </a:pPr>
            <a:r>
              <a:rPr b="0" lang="en-US" sz="3500" spc="199" strike="noStrike" cap="all">
                <a:solidFill>
                  <a:srgbClr val="262626"/>
                </a:solidFill>
                <a:latin typeface="Gill Sans MT"/>
              </a:rPr>
              <a:t>Click to </a:t>
            </a:r>
            <a:r>
              <a:rPr b="0" lang="en-US" sz="3500" spc="199" strike="noStrike" cap="all">
                <a:solidFill>
                  <a:srgbClr val="262626"/>
                </a:solidFill>
                <a:latin typeface="Gill Sans MT"/>
              </a:rPr>
              <a:t>edit </a:t>
            </a:r>
            <a:r>
              <a:rPr b="0" lang="en-US" sz="3500" spc="199" strike="noStrike" cap="all">
                <a:solidFill>
                  <a:srgbClr val="262626"/>
                </a:solidFill>
                <a:latin typeface="Gill Sans MT"/>
              </a:rPr>
              <a:t>Master </a:t>
            </a:r>
            <a:r>
              <a:rPr b="0" lang="en-US" sz="3500" spc="199" strike="noStrike" cap="all">
                <a:solidFill>
                  <a:srgbClr val="262626"/>
                </a:solidFill>
                <a:latin typeface="Gill Sans MT"/>
              </a:rPr>
              <a:t>title </a:t>
            </a:r>
            <a:r>
              <a:rPr b="0" lang="en-US" sz="3500" spc="199" strike="noStrike" cap="all">
                <a:solidFill>
                  <a:srgbClr val="262626"/>
                </a:solidFill>
                <a:latin typeface="Gill Sans MT"/>
              </a:rPr>
              <a:t>style</a:t>
            </a:r>
            <a:endParaRPr b="0" lang="en-US" sz="3500" spc="-1" strike="noStrike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5978880" y="6238800"/>
            <a:ext cx="2064960" cy="323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ffffff">
                    <a:alpha val="70000"/>
                  </a:srgbClr>
                </a:solidFill>
                <a:latin typeface="Gill Sans MT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>
                    <a:alpha val="70000"/>
                  </a:srgbClr>
                </a:solidFill>
                <a:latin typeface="Gill Sans MT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1102320" y="6236280"/>
            <a:ext cx="4556160" cy="319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24004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8DD72A9F-01FF-40F1-9D1C-B611CC7A27F5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Gill Sans MT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Gill Sans M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ffffff"/>
                </a:solidFill>
                <a:latin typeface="Gill Sans MT"/>
              </a:rPr>
              <a:t>Second Outline Level</a:t>
            </a:r>
            <a:endParaRPr b="0" lang="en-US" sz="1600" spc="-1" strike="noStrike">
              <a:solidFill>
                <a:srgbClr val="ffffff"/>
              </a:solidFill>
              <a:latin typeface="Gill Sans M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ffffff"/>
                </a:solidFill>
                <a:latin typeface="Gill Sans MT"/>
              </a:rPr>
              <a:t>Third Outline Level</a:t>
            </a:r>
            <a:endParaRPr b="0" lang="en-US" sz="1600" spc="-1" strike="noStrike">
              <a:solidFill>
                <a:srgbClr val="ffffff"/>
              </a:solidFill>
              <a:latin typeface="Gill Sans M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ffffff"/>
                </a:solidFill>
                <a:latin typeface="Gill Sans MT"/>
              </a:rPr>
              <a:t>Fourth Outline Level</a:t>
            </a:r>
            <a:endParaRPr b="0" lang="en-US" sz="1600" spc="-1" strike="noStrike">
              <a:solidFill>
                <a:srgbClr val="ffffff"/>
              </a:solidFill>
              <a:latin typeface="Gill Sans M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Gill Sans M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Gill Sans M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Gill Sans MT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2600" spc="199" strike="noStrike" cap="all">
                <a:solidFill>
                  <a:srgbClr val="262626"/>
                </a:solidFill>
                <a:latin typeface="Gill Sans MT"/>
              </a:rPr>
              <a:t>Click to </a:t>
            </a:r>
            <a:r>
              <a:rPr b="0" lang="en-US" sz="2600" spc="199" strike="noStrike" cap="all">
                <a:solidFill>
                  <a:srgbClr val="262626"/>
                </a:solidFill>
                <a:latin typeface="Gill Sans MT"/>
              </a:rPr>
              <a:t>edit Master </a:t>
            </a:r>
            <a:r>
              <a:rPr b="0" lang="en-US" sz="2600" spc="199" strike="noStrike" cap="all">
                <a:solidFill>
                  <a:srgbClr val="262626"/>
                </a:solidFill>
                <a:latin typeface="Gill Sans MT"/>
              </a:rPr>
              <a:t>title style</a:t>
            </a:r>
            <a:endParaRPr b="0" lang="en-US" sz="2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Edit Master text styles</a:t>
            </a: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Second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2" marL="6858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Third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3" marL="9144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Fourth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4" marL="11430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Fifth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5978880" y="6238800"/>
            <a:ext cx="2064960" cy="323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000000">
                    <a:alpha val="70000"/>
                  </a:srgbClr>
                </a:solidFill>
                <a:latin typeface="Gill Sans MT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>
                    <a:alpha val="70000"/>
                  </a:srgbClr>
                </a:solidFill>
                <a:latin typeface="Gill Sans MT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1102320" y="6236280"/>
            <a:ext cx="4556160" cy="319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24004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FDAC8EAF-D6F5-442C-8F45-2719CB40E6F4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2600" spc="199" strike="noStrike" cap="all">
                <a:solidFill>
                  <a:srgbClr val="262626"/>
                </a:solidFill>
                <a:latin typeface="Gill Sans MT"/>
              </a:rPr>
              <a:t>Click to </a:t>
            </a:r>
            <a:r>
              <a:rPr b="0" lang="en-US" sz="2600" spc="199" strike="noStrike" cap="all">
                <a:solidFill>
                  <a:srgbClr val="262626"/>
                </a:solidFill>
                <a:latin typeface="Gill Sans MT"/>
              </a:rPr>
              <a:t>edit Master </a:t>
            </a:r>
            <a:r>
              <a:rPr b="0" lang="en-US" sz="2600" spc="199" strike="noStrike" cap="all">
                <a:solidFill>
                  <a:srgbClr val="262626"/>
                </a:solidFill>
                <a:latin typeface="Gill Sans MT"/>
              </a:rPr>
              <a:t>title style</a:t>
            </a:r>
            <a:endParaRPr b="0" lang="en-US" sz="2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dt" idx="7"/>
          </p:nvPr>
        </p:nvSpPr>
        <p:spPr>
          <a:xfrm>
            <a:off x="5978880" y="6238800"/>
            <a:ext cx="2064960" cy="323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000000">
                    <a:alpha val="70000"/>
                  </a:srgbClr>
                </a:solidFill>
                <a:latin typeface="Gill Sans MT"/>
              </a:defRPr>
            </a:lvl1pPr>
          </a:lstStyle>
          <a:p>
            <a:pPr algn="r"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>
                    <a:alpha val="70000"/>
                  </a:srgbClr>
                </a:solidFill>
                <a:latin typeface="Gill Sans MT"/>
              </a:rPr>
              <a:t>&lt;date/time&gt;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8"/>
          </p:nvPr>
        </p:nvSpPr>
        <p:spPr>
          <a:xfrm>
            <a:off x="1102320" y="6236280"/>
            <a:ext cx="4556160" cy="319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9"/>
          </p:nvPr>
        </p:nvSpPr>
        <p:spPr>
          <a:xfrm>
            <a:off x="8240040" y="6217920"/>
            <a:ext cx="365400" cy="36540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rIns="18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100" spc="-1" strike="noStrike">
                <a:solidFill>
                  <a:srgbClr val="ffffff"/>
                </a:solidFill>
                <a:latin typeface="Gill Sans MT"/>
              </a:defRPr>
            </a:lvl1pPr>
          </a:lstStyle>
          <a:p>
            <a:pPr algn="ctr">
              <a:lnSpc>
                <a:spcPct val="100000"/>
              </a:lnSpc>
              <a:buNone/>
            </a:pPr>
            <a:fld id="{BA3AC10A-1810-4ECD-8183-250BF617A398}" type="slidenum">
              <a:rPr b="0" lang="en-US" sz="1100" spc="-1" strike="noStrike">
                <a:solidFill>
                  <a:srgbClr val="ffffff"/>
                </a:solidFill>
                <a:latin typeface="Gill Sans MT"/>
              </a:rPr>
              <a:t>&lt;number&gt;</a:t>
            </a:fld>
            <a:endParaRPr b="0" lang="en-US" sz="11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262626"/>
                </a:solidFill>
                <a:latin typeface="Gill Sans MT"/>
              </a:rPr>
              <a:t>Click to edit the outline text format</a:t>
            </a:r>
            <a:endParaRPr b="0" lang="en-US" sz="1800" spc="-1" strike="noStrike">
              <a:solidFill>
                <a:srgbClr val="262626"/>
              </a:solidFill>
              <a:latin typeface="Gill Sans M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Second Outline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Third Outline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262626"/>
                </a:solidFill>
                <a:latin typeface="Gill Sans MT"/>
              </a:rPr>
              <a:t>Fourth Outline Level</a:t>
            </a:r>
            <a:endParaRPr b="0" lang="en-US" sz="1600" spc="-1" strike="noStrike">
              <a:solidFill>
                <a:srgbClr val="262626"/>
              </a:solidFill>
              <a:latin typeface="Gill Sans M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62626"/>
                </a:solidFill>
                <a:latin typeface="Gill Sans MT"/>
              </a:rPr>
              <a:t>Fifth Outline Level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62626"/>
                </a:solidFill>
                <a:latin typeface="Gill Sans MT"/>
              </a:rPr>
              <a:t>Sixth Outline Level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262626"/>
                </a:solidFill>
                <a:latin typeface="Gill Sans MT"/>
              </a:rPr>
              <a:t>Seventh Outline Level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102320" y="2386800"/>
            <a:ext cx="6939000" cy="164556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rIns="274320" tIns="182880" bIns="182880" anchor="ctr" anchorCtr="1">
            <a:normAutofit fontScale="88000"/>
          </a:bodyPr>
          <a:p>
            <a:pPr algn="ctr">
              <a:lnSpc>
                <a:spcPct val="90000"/>
              </a:lnSpc>
              <a:buNone/>
            </a:pPr>
            <a:r>
              <a:rPr b="0" lang="en-US" sz="3500" spc="199" strike="noStrike" cap="all">
                <a:solidFill>
                  <a:srgbClr val="1e3c96"/>
                </a:solidFill>
                <a:latin typeface="Gill Sans MT"/>
              </a:rPr>
              <a:t>Автомат</a:t>
            </a:r>
            <a:r>
              <a:rPr b="0" lang="en-US" sz="3500" spc="199" strike="noStrike" cap="all">
                <a:solidFill>
                  <a:srgbClr val="1e3c96"/>
                </a:solidFill>
                <a:latin typeface="Gill Sans MT"/>
              </a:rPr>
              <a:t>изирано </a:t>
            </a:r>
            <a:r>
              <a:rPr b="0" lang="en-US" sz="3500" spc="199" strike="noStrike" cap="all">
                <a:solidFill>
                  <a:srgbClr val="1e3c96"/>
                </a:solidFill>
                <a:latin typeface="Gill Sans MT"/>
              </a:rPr>
              <a:t>тестира</a:t>
            </a:r>
            <a:r>
              <a:rPr b="0" lang="en-US" sz="3500" spc="199" strike="noStrike" cap="all">
                <a:solidFill>
                  <a:srgbClr val="1e3c96"/>
                </a:solidFill>
                <a:latin typeface="Gill Sans MT"/>
              </a:rPr>
              <a:t>ње на </a:t>
            </a:r>
            <a:r>
              <a:rPr b="0" lang="en-US" sz="3500" spc="199" strike="noStrike" cap="all">
                <a:solidFill>
                  <a:srgbClr val="1e3c96"/>
                </a:solidFill>
                <a:latin typeface="Gill Sans MT"/>
              </a:rPr>
              <a:t>Spring </a:t>
            </a:r>
            <a:r>
              <a:rPr b="0" lang="en-US" sz="3500" spc="199" strike="noStrike" cap="all">
                <a:solidFill>
                  <a:srgbClr val="1e3c96"/>
                </a:solidFill>
                <a:latin typeface="Gill Sans MT"/>
              </a:rPr>
              <a:t>Boot </a:t>
            </a:r>
            <a:r>
              <a:rPr b="0" lang="en-US" sz="3500" spc="199" strike="noStrike" cap="all">
                <a:solidFill>
                  <a:srgbClr val="1e3c96"/>
                </a:solidFill>
                <a:latin typeface="Gill Sans MT"/>
              </a:rPr>
              <a:t>Web </a:t>
            </a:r>
            <a:r>
              <a:rPr b="0" lang="en-US" sz="3500" spc="199" strike="noStrike" cap="all">
                <a:solidFill>
                  <a:srgbClr val="1e3c96"/>
                </a:solidFill>
                <a:latin typeface="Gill Sans MT"/>
              </a:rPr>
              <a:t>апликац</a:t>
            </a:r>
            <a:r>
              <a:rPr b="0" lang="en-US" sz="3500" spc="199" strike="noStrike" cap="all">
                <a:solidFill>
                  <a:srgbClr val="1e3c96"/>
                </a:solidFill>
                <a:latin typeface="Gill Sans MT"/>
              </a:rPr>
              <a:t>ија</a:t>
            </a:r>
            <a:endParaRPr b="0" lang="en-US" sz="3500" spc="-1" strike="noStrike">
              <a:solidFill>
                <a:srgbClr val="ffffff"/>
              </a:solidFill>
              <a:latin typeface="Gill Sans MT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ubTitle"/>
          </p:nvPr>
        </p:nvSpPr>
        <p:spPr>
          <a:xfrm>
            <a:off x="2021400" y="4352400"/>
            <a:ext cx="5100840" cy="1239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900" spc="-1" strike="noStrike">
                <a:solidFill>
                  <a:srgbClr val="ffffff"/>
                </a:solidFill>
                <a:latin typeface="Gill Sans MT"/>
              </a:rPr>
              <a:t>Студент: Ангела </a:t>
            </a:r>
            <a:r>
              <a:rPr b="0" lang="en-US" sz="1900" spc="-1" strike="noStrike">
                <a:solidFill>
                  <a:srgbClr val="ffffff"/>
                </a:solidFill>
                <a:latin typeface="Gill Sans MT"/>
              </a:rPr>
              <a:t>Цветковска 221001</a:t>
            </a:r>
            <a:endParaRPr b="0" lang="en-US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Вовед</a:t>
            </a:r>
            <a:endParaRPr b="0" lang="en-US" sz="2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Проект изработен во рамки на предметот 'Софтверски квалитет и тестирање'.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Цел: Демонстрација на автоматизирано тестирање на Spring Boot веб апликација.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Тестирани се повеќе слоеви: сервис, репозиториум, контролери, UI и </a:t>
            </a: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security.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Апликација за управување со јадења (Dish) и готвачи (Chef).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Улогите и </a:t>
            </a: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нивните </a:t>
            </a: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овластува</a:t>
            </a: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ња</a:t>
            </a:r>
            <a:endParaRPr b="0" lang="en-US" sz="2600" spc="-1" strike="noStrike">
              <a:solidFill>
                <a:srgbClr val="000000"/>
              </a:solidFill>
              <a:latin typeface="Gill Sans MT"/>
            </a:endParaRPr>
          </a:p>
        </p:txBody>
      </p:sp>
      <p:graphicFrame>
        <p:nvGraphicFramePr>
          <p:cNvPr id="128" name="Table 2"/>
          <p:cNvGraphicFramePr/>
          <p:nvPr/>
        </p:nvGraphicFramePr>
        <p:xfrm>
          <a:off x="457200" y="3117240"/>
          <a:ext cx="8229240" cy="22856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761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1e3c96"/>
                          </a:solidFill>
                          <a:latin typeface="Gill Sans MT"/>
                        </a:rPr>
                        <a:t>Улога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6a2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1e3c96"/>
                          </a:solidFill>
                          <a:latin typeface="Gill Sans MT"/>
                        </a:rPr>
                        <a:t>Овластувања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6a21d"/>
                    </a:solidFill>
                  </a:tcPr>
                </a:tc>
              </a:tr>
              <a:tr h="761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USER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d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Само преглед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dfcc"/>
                    </a:solidFill>
                  </a:tcPr>
                </a:tc>
              </a:tr>
              <a:tr h="762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ADMIN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df0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Целосен CRUD пристап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df0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Користени </a:t>
            </a: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алатки и </a:t>
            </a: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технологи</a:t>
            </a: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и</a:t>
            </a:r>
            <a:endParaRPr b="0" lang="en-US" sz="2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000"/>
          </a:bodyPr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Spring MVC Test Framework</a:t>
            </a: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 - </a:t>
            </a:r>
            <a:r>
              <a:rPr b="0" lang="mk-MK" sz="2000" spc="-1" strike="noStrike">
                <a:solidFill>
                  <a:srgbClr val="282828"/>
                </a:solidFill>
                <a:latin typeface="Gill Sans MT"/>
              </a:rPr>
              <a:t>Тестирање на контролери без стартување на сервер 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mk-MK" sz="2000" spc="-1" strike="noStrike">
                <a:solidFill>
                  <a:srgbClr val="282828"/>
                </a:solidFill>
                <a:latin typeface="Gill Sans MT"/>
              </a:rPr>
              <a:t>Selenium WebDriver</a:t>
            </a: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 – </a:t>
            </a:r>
            <a:r>
              <a:rPr b="0" lang="ru-RU" sz="2000" spc="-1" strike="noStrike">
                <a:solidFill>
                  <a:srgbClr val="282828"/>
                </a:solidFill>
                <a:latin typeface="Gill Sans MT"/>
              </a:rPr>
              <a:t>UI</a:t>
            </a: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 </a:t>
            </a:r>
            <a:r>
              <a:rPr b="0" lang="ru-RU" sz="2000" spc="-1" strike="noStrike">
                <a:solidFill>
                  <a:srgbClr val="282828"/>
                </a:solidFill>
                <a:latin typeface="Gill Sans MT"/>
              </a:rPr>
              <a:t>тестирање со вистински browser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282828"/>
                </a:solidFill>
                <a:latin typeface="Gill Sans MT"/>
              </a:rPr>
              <a:t>Testcontainers (PostgreSQL)</a:t>
            </a: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 - </a:t>
            </a:r>
            <a:r>
              <a:rPr b="0" lang="ru-RU" sz="2000" spc="-1" strike="noStrike">
                <a:solidFill>
                  <a:srgbClr val="282828"/>
                </a:solidFill>
                <a:latin typeface="Gill Sans MT"/>
              </a:rPr>
              <a:t>Интеграционо тестирање со реална PostgreSQL база во контејнер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282828"/>
                </a:solidFill>
                <a:latin typeface="Gill Sans MT"/>
              </a:rPr>
              <a:t>Mockito</a:t>
            </a: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 - </a:t>
            </a:r>
            <a:r>
              <a:rPr b="0" lang="mk-MK" sz="2000" spc="-1" strike="noStrike">
                <a:solidFill>
                  <a:srgbClr val="282828"/>
                </a:solidFill>
                <a:latin typeface="Gill Sans MT"/>
              </a:rPr>
              <a:t>Тестови со </a:t>
            </a: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mock </a:t>
            </a:r>
            <a:r>
              <a:rPr b="0" lang="mk-MK" sz="2000" spc="-1" strike="noStrike">
                <a:solidFill>
                  <a:srgbClr val="282828"/>
                </a:solidFill>
                <a:latin typeface="Gill Sans MT"/>
              </a:rPr>
              <a:t>објекти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mk-MK" sz="2000" spc="-1" strike="noStrike">
                <a:solidFill>
                  <a:srgbClr val="282828"/>
                </a:solidFill>
                <a:latin typeface="Gill Sans MT"/>
              </a:rPr>
              <a:t>Spring Security Test</a:t>
            </a: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 - </a:t>
            </a:r>
            <a:r>
              <a:rPr b="0" lang="mk-MK" sz="2000" spc="-1" strike="noStrike">
                <a:solidFill>
                  <a:srgbClr val="282828"/>
                </a:solidFill>
                <a:latin typeface="Gill Sans MT"/>
              </a:rPr>
              <a:t>Тестирање на пристап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Типови </a:t>
            </a: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тестирање</a:t>
            </a:r>
            <a:endParaRPr b="0" lang="en-US" sz="2600" spc="-1" strike="noStrike">
              <a:solidFill>
                <a:srgbClr val="000000"/>
              </a:solidFill>
              <a:latin typeface="Gill Sans MT"/>
            </a:endParaRPr>
          </a:p>
        </p:txBody>
      </p:sp>
      <p:graphicFrame>
        <p:nvGraphicFramePr>
          <p:cNvPr id="132" name="Table 2"/>
          <p:cNvGraphicFramePr/>
          <p:nvPr/>
        </p:nvGraphicFramePr>
        <p:xfrm>
          <a:off x="457200" y="2674080"/>
          <a:ext cx="8229240" cy="22856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57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1e3c96"/>
                          </a:solidFill>
                          <a:latin typeface="Gill Sans MT"/>
                        </a:rPr>
                        <a:t>Тип тест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6a2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1e3c96"/>
                          </a:solidFill>
                          <a:latin typeface="Gill Sans MT"/>
                        </a:rPr>
                        <a:t>Што се тестира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6a21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1e3c96"/>
                          </a:solidFill>
                          <a:latin typeface="Gill Sans MT"/>
                        </a:rPr>
                        <a:t>Алатка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6a21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Unit Tests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d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Сервис логика, исклучоци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d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Mockito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dfcc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Repository Tests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df0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Читање/запис во база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df0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Testcontainers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df0e7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Web MVC Tests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d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Контролери, статуси, view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d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MockMvc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dfcc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Integration Tests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df0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End-to-end backend flow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df0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MockMvc + реална база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df0e7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UI Tests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d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Логирање, CRUD, UI елементи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dfc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Selenium WebDriver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bdfcc"/>
                    </a:solidFill>
                  </a:tcPr>
                </a:tc>
              </a:tr>
              <a:tr h="3571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Security Tests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df0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Role-based пристап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df0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282828"/>
                          </a:solidFill>
                          <a:latin typeface="Gill Sans MT"/>
                        </a:rPr>
                        <a:t>Spring Security Test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df0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Backend </a:t>
            </a: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тест </a:t>
            </a: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сценарија</a:t>
            </a:r>
            <a:endParaRPr b="0" lang="en-US" sz="2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CRUD операции (Chef/Dish) преку контролер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Забрана на CRUD за USER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Проверка дека податоците се запишани во база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UI тест </a:t>
            </a: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сценарија</a:t>
            </a:r>
            <a:endParaRPr b="0" lang="en-US" sz="2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Најава на ADMIN корисник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Отворање форма за ново јадење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Креирање јадење преку UI чекори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Проверка на листа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USER → нема Delete/Edit копчиња (role-based visibility)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Постигнати резултати</a:t>
            </a:r>
            <a:endParaRPr b="0" lang="en-US" sz="2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Сите тестови поминуваат успешно.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Апликацијата е функционална и стабилна.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UI интеракцијата работи правилно.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Базата е интегрирана и сигурна.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Role-based пристапот е потврден.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605960" y="964800"/>
            <a:ext cx="5937480" cy="118836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rIns="182880" tIns="182880" bIns="182880"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2600" spc="199" strike="noStrike" cap="all">
                <a:solidFill>
                  <a:srgbClr val="1e3c96"/>
                </a:solidFill>
                <a:latin typeface="Gill Sans MT"/>
              </a:rPr>
              <a:t>Заклучок</a:t>
            </a:r>
            <a:endParaRPr b="0" lang="en-US" sz="2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1605960" y="2638080"/>
            <a:ext cx="5937480" cy="3101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Тестирањето има клучна улога во развој на стабилен софтвер.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Применети повеќе техники и алатки.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Покриени се повеќе слоеви на архитектурата.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  <a:p>
            <a:pPr lvl="1" marL="457200" indent="-228600">
              <a:lnSpc>
                <a:spcPct val="100000"/>
              </a:lnSpc>
              <a:spcBef>
                <a:spcPts val="1001"/>
              </a:spcBef>
              <a:buClr>
                <a:srgbClr val="9bafb5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82828"/>
                </a:solidFill>
                <a:latin typeface="Gill Sans MT"/>
              </a:rPr>
              <a:t>Реални тест сценарија со UI и автентикација.</a:t>
            </a:r>
            <a:endParaRPr b="0" lang="en-US" sz="2000" spc="-1" strike="noStrike">
              <a:solidFill>
                <a:srgbClr val="262626"/>
              </a:solidFill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41</TotalTime>
  <Application>LibreOffice/7.3.7.2$Linux_X86_64 LibreOffice_project/30$Build-2</Application>
  <AppVersion>15.0000</AppVersion>
  <Words>295</Words>
  <Paragraphs>63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2026-02-03T11:21:42Z</dcterms:modified>
  <cp:revision>4</cp:revision>
  <dc:subject/>
  <dc:title>Автоматизирано тестирање на Spring Boot Web апликација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9</vt:i4>
  </property>
</Properties>
</file>