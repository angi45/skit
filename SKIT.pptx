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3F1AE5-A570-4928-AA8B-7D225F910C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95AEBF-5B2A-46BB-A3EA-C92CB3849C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7BE9E7-61A9-4AEB-A2AD-2346711449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65B775-5E31-4ADD-98B4-BAFAF8BDA84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83AEED-E0B8-4E70-8FD8-3770267E37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5AE192-E0B2-4692-8E81-FA6707439A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A84861-143D-496E-AE74-4062D0D190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67545E-1CAA-42B6-A056-7A435B5D15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4A7D91-E800-481C-A33D-3A4A4D3131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7C7EF5-1604-4ABB-96C9-C2D19F6728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5B0DDA-2F79-4411-98D3-65042E88C31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942970-836D-4805-8938-38A9B5C4774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CE5353-BD8E-4020-B75E-B05411AB40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3B4682-A9D9-4C40-8CF9-1EAAEF0F37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9C82731-A9E2-48A2-82F5-3BE85205AD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BBA8621-CA6D-40BD-9925-665217A514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6F167A-F19E-441F-8A7A-A05BBD3071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6977B7-956C-4896-9667-6E7A035C49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15AD45-7057-45CC-B769-1B4CFAEFED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B2C827-FA55-473A-BF0A-79519833F3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4669D6-E01F-41F0-83F3-C7356E8CA4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53C3F32-93B4-4B12-B6AC-B2AD533F7B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666EF4-1C8C-45E9-9E45-4B4D1DFC131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0740EF-E4D6-421E-8FCF-B883284862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7527309-6249-48A7-994C-AC23A70427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4D01B72-FF17-4D13-AB03-36E27F82D3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711743-6C20-47C1-9407-730AEC3365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3F027D-1063-4907-BF39-3D10968139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2E350D1-8CD4-4B43-8843-31E7D52CA0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CB498C1-E12D-4E06-8A03-0642A57BC9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559049F-027D-4BA7-8010-79DFD9A075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8609907-BD9F-4C04-9B72-733CF9AB7A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DA71960-8D61-47A9-BC80-2EED3CAECD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070B64-1117-4E7B-B8FF-9AA12F38B5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FF4101C-A55A-4873-AA86-3B76CFCC72F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2684A18-E944-4D24-BEFE-01E6E99CBA0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9baf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8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1102320" y="6236280"/>
            <a:ext cx="4555440" cy="31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8240040" y="6217920"/>
            <a:ext cx="364680" cy="364680"/>
          </a:xfrm>
          <a:prstGeom prst="rect">
            <a:avLst/>
          </a:prstGeom>
          <a:solidFill>
            <a:srgbClr val="1d1d1d">
              <a:alpha val="70000"/>
            </a:srgbClr>
          </a:solidFill>
          <a:ln w="0">
            <a:noFill/>
          </a:ln>
        </p:spPr>
        <p:txBody>
          <a:bodyPr lIns="18360" rIns="1836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100" spc="-1" strike="noStrike">
                <a:solidFill>
                  <a:srgbClr val="ffffff"/>
                </a:solidFill>
                <a:latin typeface="Gill Sans MT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BAA97B01-84CA-444E-8035-7F105C726CBA}" type="slidenum">
              <a:rPr b="0" lang="en-US" sz="1100" spc="-1" strike="noStrike">
                <a:solidFill>
                  <a:srgbClr val="ffffff"/>
                </a:solidFill>
                <a:latin typeface="Gill Sans MT"/>
              </a:rPr>
              <a:t>&lt;number&gt;</a:t>
            </a:fld>
            <a:endParaRPr b="0" lang="en-US" sz="11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978880" y="6238800"/>
            <a:ext cx="2064240" cy="32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1102320" y="6236280"/>
            <a:ext cx="4555440" cy="31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8240040" y="6217920"/>
            <a:ext cx="364680" cy="364680"/>
          </a:xfrm>
          <a:prstGeom prst="rect">
            <a:avLst/>
          </a:prstGeom>
          <a:solidFill>
            <a:srgbClr val="1d1d1d">
              <a:alpha val="70000"/>
            </a:srgbClr>
          </a:solidFill>
          <a:ln w="0">
            <a:noFill/>
          </a:ln>
        </p:spPr>
        <p:txBody>
          <a:bodyPr lIns="18360" rIns="1836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100" spc="-1" strike="noStrike">
                <a:solidFill>
                  <a:srgbClr val="ffffff"/>
                </a:solidFill>
                <a:latin typeface="Gill Sans MT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06CB3904-C1A6-4B9B-A168-07DB94642BB0}" type="slidenum">
              <a:rPr b="0" lang="en-US" sz="1100" spc="-1" strike="noStrike">
                <a:solidFill>
                  <a:srgbClr val="ffffff"/>
                </a:solidFill>
                <a:latin typeface="Gill Sans MT"/>
              </a:rPr>
              <a:t>&lt;number&gt;</a:t>
            </a:fld>
            <a:endParaRPr b="0" lang="en-US" sz="11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978880" y="6238800"/>
            <a:ext cx="2064240" cy="32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8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7"/>
          </p:nvPr>
        </p:nvSpPr>
        <p:spPr>
          <a:xfrm>
            <a:off x="1102320" y="6236280"/>
            <a:ext cx="4555440" cy="31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8"/>
          </p:nvPr>
        </p:nvSpPr>
        <p:spPr>
          <a:xfrm>
            <a:off x="8240040" y="6217920"/>
            <a:ext cx="364680" cy="364680"/>
          </a:xfrm>
          <a:prstGeom prst="rect">
            <a:avLst/>
          </a:prstGeom>
          <a:solidFill>
            <a:srgbClr val="1d1d1d">
              <a:alpha val="70000"/>
            </a:srgbClr>
          </a:solidFill>
          <a:ln w="0">
            <a:noFill/>
          </a:ln>
        </p:spPr>
        <p:txBody>
          <a:bodyPr lIns="18360" rIns="1836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100" spc="-1" strike="noStrike">
                <a:solidFill>
                  <a:srgbClr val="ffffff"/>
                </a:solidFill>
                <a:latin typeface="Gill Sans MT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0901FA54-3749-4706-AE5D-C7C89B025015}" type="slidenum">
              <a:rPr b="0" lang="en-US" sz="1100" spc="-1" strike="noStrike">
                <a:solidFill>
                  <a:srgbClr val="ffffff"/>
                </a:solidFill>
                <a:latin typeface="Gill Sans MT"/>
              </a:rPr>
              <a:t>&lt;number&gt;</a:t>
            </a:fld>
            <a:endParaRPr b="0" lang="en-US" sz="11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9"/>
          </p:nvPr>
        </p:nvSpPr>
        <p:spPr>
          <a:xfrm>
            <a:off x="5978880" y="6238800"/>
            <a:ext cx="2064240" cy="32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102320" y="2386800"/>
            <a:ext cx="6938280" cy="1644840"/>
          </a:xfrm>
          <a:prstGeom prst="rect">
            <a:avLst/>
          </a:prstGeom>
          <a:solidFill>
            <a:srgbClr val="ffffff"/>
          </a:solidFill>
          <a:ln cap="sq" w="38160">
            <a:solidFill>
              <a:srgbClr val="404040"/>
            </a:solidFill>
            <a:miter/>
          </a:ln>
        </p:spPr>
        <p:txBody>
          <a:bodyPr lIns="274320" rIns="274320" tIns="182880" bIns="182880" anchor="ctr" anchorCtr="1">
            <a:normAutofit fontScale="88000"/>
          </a:bodyPr>
          <a:p>
            <a:pPr algn="ctr">
              <a:lnSpc>
                <a:spcPct val="90000"/>
              </a:lnSpc>
              <a:buNone/>
            </a:pPr>
            <a:r>
              <a:rPr b="0" lang="en-US" sz="3500" spc="194" strike="noStrike" cap="all">
                <a:solidFill>
                  <a:srgbClr val="1e3c96"/>
                </a:solidFill>
                <a:latin typeface="Gill Sans MT"/>
              </a:rPr>
              <a:t>Автоматизирано тестирање на Spring Boot Web апликација</a:t>
            </a:r>
            <a:endParaRPr b="0" lang="en-US" sz="3500" spc="-1" strike="noStrike"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2021400" y="4352400"/>
            <a:ext cx="5100120" cy="123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900" spc="-1" strike="noStrike">
                <a:solidFill>
                  <a:srgbClr val="ffffff"/>
                </a:solidFill>
                <a:latin typeface="Gill Sans MT"/>
              </a:rPr>
              <a:t>Студент: Ангела Цветковска 221001</a:t>
            </a:r>
            <a:endParaRPr b="0" lang="en-US" sz="1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Вовед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1605960" y="2638080"/>
            <a:ext cx="5936760" cy="3101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Проект изработен во рамки на предметот 'Софтверски квалитет и тестирање'.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Цел: Демонстрација на автоматизирано тестирање на Spring Boot веб апликација.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Тестирани се повеќе слоеви: сервис, репозиториум, контролери, UI и security.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Апликација за управување со јадења (Dish) и готвачи (Chef).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Улогите и нивните овластувања</a:t>
            </a:r>
            <a:endParaRPr b="0" lang="en-US" sz="2600" spc="-1" strike="noStrike">
              <a:latin typeface="Arial"/>
            </a:endParaRPr>
          </a:p>
        </p:txBody>
      </p:sp>
      <p:graphicFrame>
        <p:nvGraphicFramePr>
          <p:cNvPr id="128" name="Table 2"/>
          <p:cNvGraphicFramePr/>
          <p:nvPr/>
        </p:nvGraphicFramePr>
        <p:xfrm>
          <a:off x="457200" y="3117240"/>
          <a:ext cx="8229240" cy="228528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761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800" spc="-1" strike="noStrike">
                          <a:solidFill>
                            <a:srgbClr val="1e3c96"/>
                          </a:solidFill>
                          <a:latin typeface="Gill Sans MT"/>
                        </a:rPr>
                        <a:t>Улога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f6a21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800" spc="-1" strike="noStrike">
                          <a:solidFill>
                            <a:srgbClr val="1e3c96"/>
                          </a:solidFill>
                          <a:latin typeface="Gill Sans MT"/>
                        </a:rPr>
                        <a:t>Овластувања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f6a21d"/>
                    </a:solidFill>
                  </a:tcPr>
                </a:tc>
              </a:tr>
              <a:tr h="761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USER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Само преглед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</a:tr>
              <a:tr h="7621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ADMIN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Целосен CRUD пристап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Користени алатки и технологии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1605960" y="2638080"/>
            <a:ext cx="5936760" cy="3101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1000"/>
          </a:bodyPr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Spring MVC Test Framework - </a:t>
            </a:r>
            <a:r>
              <a:rPr b="0" lang="mk-MK" sz="2000" spc="-1" strike="noStrike">
                <a:solidFill>
                  <a:srgbClr val="282828"/>
                </a:solidFill>
                <a:latin typeface="Gill Sans MT"/>
              </a:rPr>
              <a:t>Тестирање на контролери без стартување на сервер 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mk-MK" sz="2000" spc="-1" strike="noStrike">
                <a:solidFill>
                  <a:srgbClr val="282828"/>
                </a:solidFill>
                <a:latin typeface="Gill Sans MT"/>
              </a:rPr>
              <a:t>Selenium WebDriver</a:t>
            </a: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 – </a:t>
            </a:r>
            <a:r>
              <a:rPr b="0" lang="ru-RU" sz="2000" spc="-1" strike="noStrike">
                <a:solidFill>
                  <a:srgbClr val="282828"/>
                </a:solidFill>
                <a:latin typeface="Gill Sans MT"/>
              </a:rPr>
              <a:t>UI</a:t>
            </a: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 </a:t>
            </a:r>
            <a:r>
              <a:rPr b="0" lang="ru-RU" sz="2000" spc="-1" strike="noStrike">
                <a:solidFill>
                  <a:srgbClr val="282828"/>
                </a:solidFill>
                <a:latin typeface="Gill Sans MT"/>
              </a:rPr>
              <a:t>тестирање со вистински browser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282828"/>
                </a:solidFill>
                <a:latin typeface="Gill Sans MT"/>
              </a:rPr>
              <a:t>Testcontainers (PostgreSQL)</a:t>
            </a: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 - </a:t>
            </a:r>
            <a:r>
              <a:rPr b="0" lang="ru-RU" sz="2000" spc="-1" strike="noStrike">
                <a:solidFill>
                  <a:srgbClr val="282828"/>
                </a:solidFill>
                <a:latin typeface="Gill Sans MT"/>
              </a:rPr>
              <a:t>Интеграционо тестирање со реална PostgreSQL база во контејнер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282828"/>
                </a:solidFill>
                <a:latin typeface="Gill Sans MT"/>
              </a:rPr>
              <a:t>Mockito</a:t>
            </a: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 - </a:t>
            </a:r>
            <a:r>
              <a:rPr b="0" lang="mk-MK" sz="2000" spc="-1" strike="noStrike">
                <a:solidFill>
                  <a:srgbClr val="282828"/>
                </a:solidFill>
                <a:latin typeface="Gill Sans MT"/>
              </a:rPr>
              <a:t>Тестови со </a:t>
            </a: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mock </a:t>
            </a:r>
            <a:r>
              <a:rPr b="0" lang="mk-MK" sz="2000" spc="-1" strike="noStrike">
                <a:solidFill>
                  <a:srgbClr val="282828"/>
                </a:solidFill>
                <a:latin typeface="Gill Sans MT"/>
              </a:rPr>
              <a:t>објекти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mk-MK" sz="2000" spc="-1" strike="noStrike">
                <a:solidFill>
                  <a:srgbClr val="282828"/>
                </a:solidFill>
                <a:latin typeface="Gill Sans MT"/>
              </a:rPr>
              <a:t>Spring Security Test</a:t>
            </a: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 - </a:t>
            </a:r>
            <a:r>
              <a:rPr b="0" lang="mk-MK" sz="2000" spc="-1" strike="noStrike">
                <a:solidFill>
                  <a:srgbClr val="282828"/>
                </a:solidFill>
                <a:latin typeface="Gill Sans MT"/>
              </a:rPr>
              <a:t>Тестирање на пристап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Типови тестирање</a:t>
            </a:r>
            <a:endParaRPr b="0" lang="en-US" sz="2600" spc="-1" strike="noStrike">
              <a:latin typeface="Arial"/>
            </a:endParaRPr>
          </a:p>
        </p:txBody>
      </p:sp>
      <p:graphicFrame>
        <p:nvGraphicFramePr>
          <p:cNvPr id="132" name="Table 2"/>
          <p:cNvGraphicFramePr/>
          <p:nvPr/>
        </p:nvGraphicFramePr>
        <p:xfrm>
          <a:off x="457200" y="2674080"/>
          <a:ext cx="8229240" cy="382608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571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800" spc="-1" strike="noStrike">
                          <a:solidFill>
                            <a:srgbClr val="1e3c96"/>
                          </a:solidFill>
                          <a:latin typeface="Gill Sans MT"/>
                        </a:rPr>
                        <a:t>Тип тест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f6a21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800" spc="-1" strike="noStrike">
                          <a:solidFill>
                            <a:srgbClr val="1e3c96"/>
                          </a:solidFill>
                          <a:latin typeface="Gill Sans MT"/>
                        </a:rPr>
                        <a:t>Што се тестира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f6a21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800" spc="-1" strike="noStrike">
                          <a:solidFill>
                            <a:srgbClr val="1e3c96"/>
                          </a:solidFill>
                          <a:latin typeface="Gill Sans MT"/>
                        </a:rPr>
                        <a:t>Алатка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f6a21d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Unit Tests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Сервис логика, исклучоци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Mockito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Repository Tests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Читање/запис во база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Testcontainers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Web MVC Tests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Контролери, статуси, view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001"/>
                        </a:spcBef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Spring MVC Test Framework-MVC Mock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Integration Tests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End-to-end backend flow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MockMvc + реална база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UI Tests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Логирање, CRUD, UI елементи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Selenium WebDriver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bdfcc"/>
                    </a:solidFill>
                  </a:tcPr>
                </a:tc>
              </a:tr>
              <a:tr h="3571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Security Tests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Role-based пристап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282828"/>
                          </a:solidFill>
                          <a:latin typeface="Gill Sans MT"/>
                        </a:rPr>
                        <a:t>Spring Security Test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df0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Backend тест сценарија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605960" y="2638080"/>
            <a:ext cx="5936760" cy="3101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CRUD операции (Chef/Dish) преку контролер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Забрана на CRUD за USER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Проверка дека податоците се запишани во база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UI тест сценарија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1605960" y="2638080"/>
            <a:ext cx="5936760" cy="3101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Најава на ADMIN корисник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Отворање форма за ново јадење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Креирање јадење преку UI чекори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Проверка на листа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USER → нема Delete/Edit копчиња (role-based visibility)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Постигнати резултати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605960" y="2638080"/>
            <a:ext cx="5936760" cy="3101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Сите тестови поминуваат успешно.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Апликацијата е функционална и стабилна.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UI интеракцијата работи правилно.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Базата е интегрирана и сигурна.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Role-based пристапот е потврден.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605960" y="964800"/>
            <a:ext cx="5936760" cy="1187640"/>
          </a:xfrm>
          <a:prstGeom prst="rect">
            <a:avLst/>
          </a:prstGeom>
          <a:solidFill>
            <a:srgbClr val="ffffff"/>
          </a:solidFill>
          <a:ln cap="sq" w="31680">
            <a:solidFill>
              <a:srgbClr val="404040"/>
            </a:solidFill>
            <a:miter/>
          </a:ln>
        </p:spPr>
        <p:txBody>
          <a:bodyPr lIns="182880" rIns="182880" tIns="182880" bIns="18288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600" spc="194" strike="noStrike" cap="all">
                <a:solidFill>
                  <a:srgbClr val="1e3c96"/>
                </a:solidFill>
                <a:latin typeface="Gill Sans MT"/>
              </a:rPr>
              <a:t>Заклучок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605960" y="2638080"/>
            <a:ext cx="5936760" cy="3101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Тестирањето има клучна улога во развој на стабилен софтвер.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Применети повеќе техники и алатки.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Покриени се повеќе слоеви на архитектурата.</a:t>
            </a:r>
            <a:endParaRPr b="0" lang="en-US" sz="2000" spc="-1" strike="noStrike"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1001"/>
              </a:spcBef>
              <a:buClr>
                <a:srgbClr val="9bafb5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282828"/>
                </a:solidFill>
                <a:latin typeface="Gill Sans MT"/>
              </a:rPr>
              <a:t>Реални тест сценарија со UI и автентикација.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46</TotalTime>
  <Application>LibreOffice/7.3.7.2$Linux_X86_64 LibreOffice_project/30$Build-2</Application>
  <AppVersion>15.0000</AppVersion>
  <Words>295</Words>
  <Paragraphs>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2026-02-03T20:27:01Z</dcterms:modified>
  <cp:revision>5</cp:revision>
  <dc:subject/>
  <dc:title>Автоматизирано тестирање на Spring Boot Web апликација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9</vt:i4>
  </property>
</Properties>
</file>